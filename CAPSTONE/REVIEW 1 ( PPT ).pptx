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PROJECT PRESENTATION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9966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User Churn Prediction System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9FC6D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Explainable Machine Learning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3246120"/>
            <a:ext cx="896112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246120"/>
            <a:ext cx="8961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901952" y="3246120"/>
            <a:ext cx="1901952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01952" y="3246120"/>
            <a:ext cx="1901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86784" y="3246120"/>
            <a:ext cx="694944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86784" y="3246120"/>
            <a:ext cx="69494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64608" y="3246120"/>
            <a:ext cx="1197864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3246120"/>
            <a:ext cx="11978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114800"/>
            <a:ext cx="548640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27939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4645152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Name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502920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Name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541324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Name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583680" y="4114800"/>
            <a:ext cx="475488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27939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466344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Computer Science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Engineering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60020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5317" y="1716877"/>
            <a:ext cx="296997" cy="29699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58191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is the process where customers stop using a company’s services.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17" y="2768437"/>
            <a:ext cx="296997" cy="2969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3347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churn helps organizations identify customers who may leave.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548640" y="3703320"/>
            <a:ext cx="530352" cy="53035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17" y="3819997"/>
            <a:ext cx="296997" cy="29699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68503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techniques can analyze customer behavior and predict future churn.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548640" y="4754880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317" y="4871557"/>
            <a:ext cx="296997" cy="29699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4736592"/>
            <a:ext cx="6126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an AI-based churn prediction system with explainable insights.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7818120" y="1417320"/>
            <a:ext cx="3794760" cy="4572000"/>
          </a:xfrm>
          <a:prstGeom prst="roundRect">
            <a:avLst>
              <a:gd name="adj" fmla="val 2892"/>
            </a:avLst>
          </a:prstGeom>
          <a:solidFill>
            <a:srgbClr val="F4F8FA"/>
          </a:solidFill>
          <a:ln/>
        </p:spPr>
      </p:sp>
      <p:sp>
        <p:nvSpPr>
          <p:cNvPr id="17" name="Shape 11"/>
          <p:cNvSpPr/>
          <p:nvPr/>
        </p:nvSpPr>
        <p:spPr>
          <a:xfrm>
            <a:off x="9363456" y="18745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48622" y="2059686"/>
            <a:ext cx="452628" cy="45262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092440" y="2880360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Retention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8092440" y="3611880"/>
            <a:ext cx="32461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transforms customer signals — usage, billing, and support history — into clear, explainable churn risk scores that retention teams can act on.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Introduction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B23A4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18681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554480"/>
            <a:ext cx="9829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face significant revenue loss due to customer churn, and traditional approaches cannot accurately identify customers who are likely to leave.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smart prediction system is required to: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48640" y="3429000"/>
            <a:ext cx="359359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370332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754" y="3840114"/>
            <a:ext cx="348204" cy="34820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44805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Churn Probability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822960" y="51206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likelihood each customer will leave.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416552" y="3429000"/>
            <a:ext cx="359359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90872" y="370332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7666" y="3840114"/>
            <a:ext cx="348204" cy="34820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90872" y="44805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High-Risk Customers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4690872" y="51206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accounts most in need of attention.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84464" y="3429000"/>
            <a:ext cx="3593592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558784" y="3703320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578" y="3840114"/>
            <a:ext cx="348204" cy="34820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558784" y="448056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Provide Retention Recommendations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8558784" y="512064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concrete next-best actions.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Problem Statement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0078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964" y="1825508"/>
            <a:ext cx="317480" cy="317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910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Machine Learning model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54480" y="195681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for customer churn prediction.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463040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700784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5524" y="1825508"/>
            <a:ext cx="317480" cy="31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591056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behavior patterns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78040" y="1956816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customer service and billing patterns.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072384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310128"/>
            <a:ext cx="566928" cy="566928"/>
          </a:xfrm>
          <a:prstGeom prst="ellipse">
            <a:avLst/>
          </a:prstGeom>
          <a:solidFill>
            <a:srgbClr val="1520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964" y="3434852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churn probability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54480" y="35661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churn probability percentage per customer.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072384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33101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5524" y="3434852"/>
            <a:ext cx="317480" cy="317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risk categories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78040" y="35661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customers into clear risk tiers.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68172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491947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1964" y="5044196"/>
            <a:ext cx="317480" cy="317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48097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every prediction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54480" y="517550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transparent AI explanations using SHAP.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172200" y="4681728"/>
            <a:ext cx="5440680" cy="1371600"/>
          </a:xfrm>
          <a:prstGeom prst="roundRect">
            <a:avLst>
              <a:gd name="adj" fmla="val 6000"/>
            </a:avLst>
          </a:prstGeom>
          <a:solidFill>
            <a:srgbClr val="F4F8FA"/>
          </a:solidFill>
          <a:ln/>
        </p:spPr>
      </p:sp>
      <p:sp>
        <p:nvSpPr>
          <p:cNvPr id="30" name="Shape 23"/>
          <p:cNvSpPr/>
          <p:nvPr/>
        </p:nvSpPr>
        <p:spPr>
          <a:xfrm>
            <a:off x="6400800" y="4919472"/>
            <a:ext cx="566928" cy="566928"/>
          </a:xfrm>
          <a:prstGeom prst="ellipse">
            <a:avLst/>
          </a:prstGeom>
          <a:solidFill>
            <a:srgbClr val="1520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5524" y="5044196"/>
            <a:ext cx="317480" cy="317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78040" y="48097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dashboard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78040" y="5175504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live, usable prediction dashboard.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Objectives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9844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Dataset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8745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7,043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Records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783080"/>
            <a:ext cx="2606040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18745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3291840" y="260604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35040" y="1783080"/>
            <a:ext cx="5577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084832"/>
            <a:ext cx="822960" cy="822960"/>
          </a:xfrm>
          <a:prstGeom prst="ellipse">
            <a:avLst/>
          </a:prstGeom>
          <a:solidFill>
            <a:srgbClr val="15203D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8806" y="2269998"/>
            <a:ext cx="452628" cy="4526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269480" y="196596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269480" y="2331720"/>
            <a:ext cx="4160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Churn  —  Yes / No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48640" y="34290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Feature Groups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3931920"/>
            <a:ext cx="3593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13232" y="409651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09" y="4213189"/>
            <a:ext cx="296997" cy="296997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371600" y="393192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4279392" y="3931920"/>
            <a:ext cx="3593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443984" y="409651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661" y="4213189"/>
            <a:ext cx="296997" cy="296997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102352" y="393192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information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8010144" y="3931920"/>
            <a:ext cx="3593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174736" y="409651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1413" y="4213189"/>
            <a:ext cx="296997" cy="29699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33104" y="393192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details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548640" y="4983480"/>
            <a:ext cx="3593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3232" y="514807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909" y="5264749"/>
            <a:ext cx="296997" cy="29699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371600" y="498348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information</a:t>
            </a:r>
            <a:endParaRPr lang="en-US" sz="1250" dirty="0"/>
          </a:p>
        </p:txBody>
      </p:sp>
      <p:sp>
        <p:nvSpPr>
          <p:cNvPr id="33" name="Shape 26"/>
          <p:cNvSpPr/>
          <p:nvPr/>
        </p:nvSpPr>
        <p:spPr>
          <a:xfrm>
            <a:off x="4279392" y="4983480"/>
            <a:ext cx="3593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4443984" y="514807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0661" y="5264749"/>
            <a:ext cx="296997" cy="296997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102352" y="498348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&amp; total charges</a:t>
            </a:r>
            <a:endParaRPr lang="en-US" sz="1250" dirty="0"/>
          </a:p>
        </p:txBody>
      </p:sp>
      <p:sp>
        <p:nvSpPr>
          <p:cNvPr id="37" name="Shape 29"/>
          <p:cNvSpPr/>
          <p:nvPr/>
        </p:nvSpPr>
        <p:spPr>
          <a:xfrm>
            <a:off x="8010144" y="4983480"/>
            <a:ext cx="35935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8174736" y="5148072"/>
            <a:ext cx="530352" cy="53035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1413" y="5264749"/>
            <a:ext cx="296997" cy="296997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8833104" y="4983480"/>
            <a:ext cx="263347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ticket details</a:t>
            </a:r>
            <a:endParaRPr lang="en-US" sz="1250" dirty="0"/>
          </a:p>
        </p:txBody>
      </p:sp>
      <p:sp>
        <p:nvSpPr>
          <p:cNvPr id="41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Dataset Description</a:t>
            </a:r>
            <a:endParaRPr lang="en-US" sz="900" dirty="0"/>
          </a:p>
        </p:txBody>
      </p:sp>
      <p:sp>
        <p:nvSpPr>
          <p:cNvPr id="42" name="Text 3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2162556" y="1417320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4F8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53996" y="1453896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4522" y="1544422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84348" y="1417320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Dataset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979676" y="1490472"/>
            <a:ext cx="329184" cy="329184"/>
          </a:xfrm>
          <a:prstGeom prst="ellipse">
            <a:avLst/>
          </a:prstGeom>
          <a:solidFill>
            <a:srgbClr val="152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79676" y="14904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 rot="10800000">
            <a:off x="6021324" y="1938528"/>
            <a:ext cx="146304" cy="128016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2162556" y="2020824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4F8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53996" y="2057400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522" y="2147926"/>
            <a:ext cx="221285" cy="22128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84348" y="2020824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Analysis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979676" y="2093976"/>
            <a:ext cx="329184" cy="329184"/>
          </a:xfrm>
          <a:prstGeom prst="ellipse">
            <a:avLst/>
          </a:prstGeom>
          <a:solidFill>
            <a:srgbClr val="152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979676" y="2093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 rot="10800000">
            <a:off x="6021324" y="2542032"/>
            <a:ext cx="146304" cy="128016"/>
          </a:xfrm>
          <a:prstGeom prst="triangle">
            <a:avLst/>
          </a:prstGeom>
          <a:solidFill>
            <a:srgbClr val="065A82"/>
          </a:solidFill>
          <a:ln/>
        </p:spPr>
      </p:sp>
      <p:sp>
        <p:nvSpPr>
          <p:cNvPr id="18" name="Shape 14"/>
          <p:cNvSpPr/>
          <p:nvPr/>
        </p:nvSpPr>
        <p:spPr>
          <a:xfrm>
            <a:off x="2162556" y="2624328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4F8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253996" y="2660904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522" y="2751430"/>
            <a:ext cx="221285" cy="22128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784348" y="2624328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1979676" y="2697480"/>
            <a:ext cx="329184" cy="329184"/>
          </a:xfrm>
          <a:prstGeom prst="ellipse">
            <a:avLst/>
          </a:prstGeom>
          <a:solidFill>
            <a:srgbClr val="152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979676" y="26974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 rot="10800000">
            <a:off x="6021324" y="3145536"/>
            <a:ext cx="146304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5" name="Shape 20"/>
          <p:cNvSpPr/>
          <p:nvPr/>
        </p:nvSpPr>
        <p:spPr>
          <a:xfrm>
            <a:off x="2162556" y="3227832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4F8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2253996" y="3264408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4522" y="3354934"/>
            <a:ext cx="221285" cy="221285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2784348" y="3227832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1979676" y="3300984"/>
            <a:ext cx="329184" cy="329184"/>
          </a:xfrm>
          <a:prstGeom prst="ellipse">
            <a:avLst/>
          </a:prstGeom>
          <a:solidFill>
            <a:srgbClr val="152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979676" y="3300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 rot="10800000">
            <a:off x="6021324" y="3749040"/>
            <a:ext cx="146304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32" name="Shape 26"/>
          <p:cNvSpPr/>
          <p:nvPr/>
        </p:nvSpPr>
        <p:spPr>
          <a:xfrm>
            <a:off x="2162556" y="3831336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4F8FA"/>
          </a:solidFill>
          <a:ln w="19050">
            <a:solidFill>
              <a:srgbClr val="15203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2253996" y="3867912"/>
            <a:ext cx="402336" cy="402336"/>
          </a:xfrm>
          <a:prstGeom prst="ellipse">
            <a:avLst/>
          </a:prstGeom>
          <a:solidFill>
            <a:srgbClr val="15203D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4522" y="3958438"/>
            <a:ext cx="221285" cy="22128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2784348" y="3831336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Model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1979676" y="3904488"/>
            <a:ext cx="329184" cy="329184"/>
          </a:xfrm>
          <a:prstGeom prst="ellipse">
            <a:avLst/>
          </a:prstGeom>
          <a:solidFill>
            <a:srgbClr val="152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979676" y="39044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 rot="10800000">
            <a:off x="6021324" y="4352544"/>
            <a:ext cx="146304" cy="128016"/>
          </a:xfrm>
          <a:prstGeom prst="triangle">
            <a:avLst/>
          </a:prstGeom>
          <a:solidFill>
            <a:srgbClr val="15203D"/>
          </a:solidFill>
          <a:ln/>
        </p:spPr>
      </p:sp>
      <p:sp>
        <p:nvSpPr>
          <p:cNvPr id="39" name="Shape 32"/>
          <p:cNvSpPr/>
          <p:nvPr/>
        </p:nvSpPr>
        <p:spPr>
          <a:xfrm>
            <a:off x="2162556" y="4434840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4F8FA"/>
          </a:solidFill>
          <a:ln w="19050">
            <a:solidFill>
              <a:srgbClr val="15203D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2253996" y="4471416"/>
            <a:ext cx="402336" cy="402336"/>
          </a:xfrm>
          <a:prstGeom prst="ellipse">
            <a:avLst/>
          </a:prstGeom>
          <a:solidFill>
            <a:srgbClr val="15203D"/>
          </a:solidFill>
          <a:ln/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4522" y="4561942"/>
            <a:ext cx="221285" cy="22128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2784348" y="4434840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1400" dirty="0"/>
          </a:p>
        </p:txBody>
      </p:sp>
      <p:sp>
        <p:nvSpPr>
          <p:cNvPr id="43" name="Shape 35"/>
          <p:cNvSpPr/>
          <p:nvPr/>
        </p:nvSpPr>
        <p:spPr>
          <a:xfrm>
            <a:off x="1979676" y="4507992"/>
            <a:ext cx="329184" cy="329184"/>
          </a:xfrm>
          <a:prstGeom prst="ellipse">
            <a:avLst/>
          </a:prstGeom>
          <a:solidFill>
            <a:srgbClr val="152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1979676" y="450799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 rot="10800000">
            <a:off x="6021324" y="4956048"/>
            <a:ext cx="146304" cy="128016"/>
          </a:xfrm>
          <a:prstGeom prst="triangle">
            <a:avLst/>
          </a:prstGeom>
          <a:solidFill>
            <a:srgbClr val="15203D"/>
          </a:solidFill>
          <a:ln/>
        </p:spPr>
      </p:sp>
      <p:sp>
        <p:nvSpPr>
          <p:cNvPr id="46" name="Shape 38"/>
          <p:cNvSpPr/>
          <p:nvPr/>
        </p:nvSpPr>
        <p:spPr>
          <a:xfrm>
            <a:off x="2162556" y="5038344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4F8FA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2253996" y="5074920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4522" y="5165446"/>
            <a:ext cx="221285" cy="221285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2784348" y="5038344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Explainability</a:t>
            </a:r>
            <a:endParaRPr lang="en-US" sz="1400" dirty="0"/>
          </a:p>
        </p:txBody>
      </p:sp>
      <p:sp>
        <p:nvSpPr>
          <p:cNvPr id="50" name="Shape 41"/>
          <p:cNvSpPr/>
          <p:nvPr/>
        </p:nvSpPr>
        <p:spPr>
          <a:xfrm>
            <a:off x="1979676" y="5111496"/>
            <a:ext cx="329184" cy="329184"/>
          </a:xfrm>
          <a:prstGeom prst="ellipse">
            <a:avLst/>
          </a:prstGeom>
          <a:solidFill>
            <a:srgbClr val="152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Text 42"/>
          <p:cNvSpPr/>
          <p:nvPr/>
        </p:nvSpPr>
        <p:spPr>
          <a:xfrm>
            <a:off x="1979676" y="51114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 rot="10800000">
            <a:off x="6021324" y="5559552"/>
            <a:ext cx="146304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53" name="Shape 44"/>
          <p:cNvSpPr/>
          <p:nvPr/>
        </p:nvSpPr>
        <p:spPr>
          <a:xfrm>
            <a:off x="2162556" y="5641848"/>
            <a:ext cx="7863840" cy="475488"/>
          </a:xfrm>
          <a:prstGeom prst="roundRect">
            <a:avLst>
              <a:gd name="adj" fmla="val 15385"/>
            </a:avLst>
          </a:prstGeom>
          <a:solidFill>
            <a:srgbClr val="F4F8FA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54" name="Shape 45"/>
          <p:cNvSpPr/>
          <p:nvPr/>
        </p:nvSpPr>
        <p:spPr>
          <a:xfrm>
            <a:off x="2253996" y="5678424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44522" y="5768950"/>
            <a:ext cx="221285" cy="221285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2784348" y="5641848"/>
            <a:ext cx="7086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400" dirty="0"/>
          </a:p>
        </p:txBody>
      </p:sp>
      <p:sp>
        <p:nvSpPr>
          <p:cNvPr id="57" name="Shape 47"/>
          <p:cNvSpPr/>
          <p:nvPr/>
        </p:nvSpPr>
        <p:spPr>
          <a:xfrm>
            <a:off x="1979676" y="5715000"/>
            <a:ext cx="329184" cy="329184"/>
          </a:xfrm>
          <a:prstGeom prst="ellipse">
            <a:avLst/>
          </a:prstGeom>
          <a:solidFill>
            <a:srgbClr val="1520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1979676" y="5715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9" name="Text 49"/>
          <p:cNvSpPr/>
          <p:nvPr/>
        </p:nvSpPr>
        <p:spPr>
          <a:xfrm>
            <a:off x="548640" y="6419088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linear pipeline: raw customer data flows through preprocessing and modeling into an explainable, deployed prediction dashboard.</a:t>
            </a:r>
            <a:endParaRPr lang="en-US" sz="1100" dirty="0"/>
          </a:p>
        </p:txBody>
      </p:sp>
      <p:sp>
        <p:nvSpPr>
          <p:cNvPr id="60" name="Text 5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System Workflow</a:t>
            </a:r>
            <a:endParaRPr lang="en-US" sz="900" dirty="0"/>
          </a:p>
        </p:txBody>
      </p:sp>
      <p:sp>
        <p:nvSpPr>
          <p:cNvPr id="61" name="Text 5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39312" y="1600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5203D"/>
          </a:solidFill>
          <a:ln/>
        </p:spPr>
      </p:sp>
      <p:sp>
        <p:nvSpPr>
          <p:cNvPr id="6" name="Text 4"/>
          <p:cNvSpPr/>
          <p:nvPr/>
        </p:nvSpPr>
        <p:spPr>
          <a:xfrm>
            <a:off x="3639312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4672" y="1719072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466" y="1855866"/>
            <a:ext cx="348204" cy="3482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2468880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Collection &amp;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Analysis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04672" y="31546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loading, exploration, customer pattern analysis.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79392" y="1463040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370064" y="1600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5203D"/>
          </a:solidFill>
          <a:ln/>
        </p:spPr>
      </p:sp>
      <p:sp>
        <p:nvSpPr>
          <p:cNvPr id="13" name="Text 10"/>
          <p:cNvSpPr/>
          <p:nvPr/>
        </p:nvSpPr>
        <p:spPr>
          <a:xfrm>
            <a:off x="7370064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35424" y="171907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218" y="1855866"/>
            <a:ext cx="348204" cy="3482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35424" y="2468880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535424" y="31546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missing value handling, label encoding.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010144" y="1463040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1100816" y="16002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5203D"/>
          </a:solidFill>
          <a:ln/>
        </p:spPr>
      </p:sp>
      <p:sp>
        <p:nvSpPr>
          <p:cNvPr id="20" name="Text 16"/>
          <p:cNvSpPr/>
          <p:nvPr/>
        </p:nvSpPr>
        <p:spPr>
          <a:xfrm>
            <a:off x="11100816" y="1600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266176" y="1719072"/>
            <a:ext cx="621792" cy="621792"/>
          </a:xfrm>
          <a:prstGeom prst="ellipse">
            <a:avLst/>
          </a:prstGeom>
          <a:solidFill>
            <a:srgbClr val="15203D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970" y="1855866"/>
            <a:ext cx="348204" cy="3482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66176" y="2468880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266176" y="31546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 and data transformation.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548640" y="3977640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3639312" y="4114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5203D"/>
          </a:solidFill>
          <a:ln/>
        </p:spPr>
      </p:sp>
      <p:sp>
        <p:nvSpPr>
          <p:cNvPr id="27" name="Text 22"/>
          <p:cNvSpPr/>
          <p:nvPr/>
        </p:nvSpPr>
        <p:spPr>
          <a:xfrm>
            <a:off x="3639312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04672" y="4233672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466" y="4370466"/>
            <a:ext cx="348204" cy="348204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804672" y="4983480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Model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804672" y="56692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training and testing.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279392" y="3977640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7370064" y="4114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5203D"/>
          </a:solidFill>
          <a:ln/>
        </p:spPr>
      </p:sp>
      <p:sp>
        <p:nvSpPr>
          <p:cNvPr id="34" name="Text 28"/>
          <p:cNvSpPr/>
          <p:nvPr/>
        </p:nvSpPr>
        <p:spPr>
          <a:xfrm>
            <a:off x="7370064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35" name="Shape 29"/>
          <p:cNvSpPr/>
          <p:nvPr/>
        </p:nvSpPr>
        <p:spPr>
          <a:xfrm>
            <a:off x="4535424" y="4233672"/>
            <a:ext cx="621792" cy="62179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2218" y="4370466"/>
            <a:ext cx="348204" cy="348204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4535424" y="4983480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 &amp;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</a:t>
            </a:r>
            <a:endParaRPr lang="en-US" sz="1500" dirty="0"/>
          </a:p>
        </p:txBody>
      </p:sp>
      <p:sp>
        <p:nvSpPr>
          <p:cNvPr id="38" name="Text 31"/>
          <p:cNvSpPr/>
          <p:nvPr/>
        </p:nvSpPr>
        <p:spPr>
          <a:xfrm>
            <a:off x="4535424" y="56692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analysis, risk classification, retention suggestions.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8010144" y="3977640"/>
            <a:ext cx="3593592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11100816" y="41148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5203D"/>
          </a:solidFill>
          <a:ln/>
        </p:spPr>
      </p:sp>
      <p:sp>
        <p:nvSpPr>
          <p:cNvPr id="41" name="Text 34"/>
          <p:cNvSpPr/>
          <p:nvPr/>
        </p:nvSpPr>
        <p:spPr>
          <a:xfrm>
            <a:off x="11100816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8266176" y="4233672"/>
            <a:ext cx="621792" cy="621792"/>
          </a:xfrm>
          <a:prstGeom prst="ellipse">
            <a:avLst/>
          </a:prstGeom>
          <a:solidFill>
            <a:srgbClr val="15203D"/>
          </a:solidFill>
          <a:ln/>
        </p:spPr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2970" y="4370466"/>
            <a:ext cx="348204" cy="348204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8266176" y="4983480"/>
            <a:ext cx="308152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&amp;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500" dirty="0"/>
          </a:p>
        </p:txBody>
      </p:sp>
      <p:sp>
        <p:nvSpPr>
          <p:cNvPr id="45" name="Text 37"/>
          <p:cNvSpPr/>
          <p:nvPr/>
        </p:nvSpPr>
        <p:spPr>
          <a:xfrm>
            <a:off x="8266176" y="5669280"/>
            <a:ext cx="308152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with analytics and prediction UI.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Project Modules</a:t>
            </a:r>
            <a:endParaRPr lang="en-US" sz="900" dirty="0"/>
          </a:p>
        </p:txBody>
      </p:sp>
      <p:sp>
        <p:nvSpPr>
          <p:cNvPr id="47" name="Text 39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63040"/>
            <a:ext cx="2688336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49808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65" y="2170557"/>
            <a:ext cx="276606" cy="2766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57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346704" y="1463040"/>
            <a:ext cx="2688336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/>
        </p:spPr>
      </p:sp>
      <p:sp>
        <p:nvSpPr>
          <p:cNvPr id="10" name="Text 7"/>
          <p:cNvSpPr/>
          <p:nvPr/>
        </p:nvSpPr>
        <p:spPr>
          <a:xfrm>
            <a:off x="3547872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547872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1029" y="2170557"/>
            <a:ext cx="276606" cy="27660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9664" y="2057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547872" y="2834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1029" y="2947797"/>
            <a:ext cx="276606" cy="2766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169664" y="283464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44768" y="1463040"/>
            <a:ext cx="2688336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/>
        </p:spPr>
      </p:sp>
      <p:sp>
        <p:nvSpPr>
          <p:cNvPr id="18" name="Text 13"/>
          <p:cNvSpPr/>
          <p:nvPr/>
        </p:nvSpPr>
        <p:spPr>
          <a:xfrm>
            <a:off x="6345936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345936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9093" y="2170557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67728" y="2057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345936" y="283464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093" y="2947797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67728" y="283464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942832" y="1463040"/>
            <a:ext cx="2688336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/>
        </p:spPr>
      </p:sp>
      <p:sp>
        <p:nvSpPr>
          <p:cNvPr id="26" name="Text 19"/>
          <p:cNvSpPr/>
          <p:nvPr/>
        </p:nvSpPr>
        <p:spPr>
          <a:xfrm>
            <a:off x="9144000" y="16276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9144000" y="20574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57157" y="2170557"/>
            <a:ext cx="276606" cy="27660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9765792" y="2057400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548640" y="3959352"/>
            <a:ext cx="2688336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/>
        </p:spPr>
      </p:sp>
      <p:sp>
        <p:nvSpPr>
          <p:cNvPr id="31" name="Text 23"/>
          <p:cNvSpPr/>
          <p:nvPr/>
        </p:nvSpPr>
        <p:spPr>
          <a:xfrm>
            <a:off x="749808" y="41239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32" name="Shape 24"/>
          <p:cNvSpPr/>
          <p:nvPr/>
        </p:nvSpPr>
        <p:spPr>
          <a:xfrm>
            <a:off x="749808" y="45537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965" y="4666869"/>
            <a:ext cx="276606" cy="27660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371600" y="4553712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3346704" y="3959352"/>
            <a:ext cx="2688336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/>
        </p:spPr>
      </p:sp>
      <p:sp>
        <p:nvSpPr>
          <p:cNvPr id="36" name="Text 27"/>
          <p:cNvSpPr/>
          <p:nvPr/>
        </p:nvSpPr>
        <p:spPr>
          <a:xfrm>
            <a:off x="3547872" y="41239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3547872" y="45537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61029" y="4666869"/>
            <a:ext cx="276606" cy="27660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4169664" y="4553712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200" dirty="0"/>
          </a:p>
        </p:txBody>
      </p:sp>
      <p:sp>
        <p:nvSpPr>
          <p:cNvPr id="40" name="Shape 30"/>
          <p:cNvSpPr/>
          <p:nvPr/>
        </p:nvSpPr>
        <p:spPr>
          <a:xfrm>
            <a:off x="6144768" y="3959352"/>
            <a:ext cx="2688336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/>
        </p:spPr>
      </p:sp>
      <p:sp>
        <p:nvSpPr>
          <p:cNvPr id="41" name="Text 31"/>
          <p:cNvSpPr/>
          <p:nvPr/>
        </p:nvSpPr>
        <p:spPr>
          <a:xfrm>
            <a:off x="6345936" y="41239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2" name="Shape 32"/>
          <p:cNvSpPr/>
          <p:nvPr/>
        </p:nvSpPr>
        <p:spPr>
          <a:xfrm>
            <a:off x="6345936" y="45537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9093" y="4666869"/>
            <a:ext cx="276606" cy="276606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967728" y="4553712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00" dirty="0"/>
          </a:p>
        </p:txBody>
      </p:sp>
      <p:sp>
        <p:nvSpPr>
          <p:cNvPr id="45" name="Shape 34"/>
          <p:cNvSpPr/>
          <p:nvPr/>
        </p:nvSpPr>
        <p:spPr>
          <a:xfrm>
            <a:off x="8942832" y="3959352"/>
            <a:ext cx="2688336" cy="2331720"/>
          </a:xfrm>
          <a:prstGeom prst="roundRect">
            <a:avLst>
              <a:gd name="adj" fmla="val 3922"/>
            </a:avLst>
          </a:prstGeom>
          <a:solidFill>
            <a:srgbClr val="F4F8FA"/>
          </a:solidFill>
          <a:ln/>
        </p:spPr>
      </p:sp>
      <p:sp>
        <p:nvSpPr>
          <p:cNvPr id="46" name="Text 35"/>
          <p:cNvSpPr/>
          <p:nvPr/>
        </p:nvSpPr>
        <p:spPr>
          <a:xfrm>
            <a:off x="9144000" y="412394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100" dirty="0"/>
          </a:p>
        </p:txBody>
      </p:sp>
      <p:sp>
        <p:nvSpPr>
          <p:cNvPr id="47" name="Shape 36"/>
          <p:cNvSpPr/>
          <p:nvPr/>
        </p:nvSpPr>
        <p:spPr>
          <a:xfrm>
            <a:off x="9144000" y="455371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57157" y="4666869"/>
            <a:ext cx="276606" cy="27660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9765792" y="4553712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Dataset</a:t>
            </a:r>
            <a:endParaRPr lang="en-US" sz="1200" dirty="0"/>
          </a:p>
        </p:txBody>
      </p:sp>
      <p:sp>
        <p:nvSpPr>
          <p:cNvPr id="50" name="Shape 38"/>
          <p:cNvSpPr/>
          <p:nvPr/>
        </p:nvSpPr>
        <p:spPr>
          <a:xfrm>
            <a:off x="9144000" y="5330952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57157" y="5444109"/>
            <a:ext cx="276606" cy="276606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9765792" y="5330952"/>
            <a:ext cx="16824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 Model Files</a:t>
            </a:r>
            <a:endParaRPr lang="en-US" sz="1200" dirty="0"/>
          </a:p>
        </p:txBody>
      </p:sp>
      <p:sp>
        <p:nvSpPr>
          <p:cNvPr id="53" name="Text 4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Tools &amp; Technologies</a:t>
            </a:r>
            <a:endParaRPr lang="en-US" sz="900" dirty="0"/>
          </a:p>
        </p:txBody>
      </p:sp>
      <p:sp>
        <p:nvSpPr>
          <p:cNvPr id="54" name="Text 4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performed to prepare data for machine learning: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0253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002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duplicate records.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7797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797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missing values.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77240" y="355701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570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42900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TotalCharges into numerical format.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20624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3342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420624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unnecessary customer ID.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511149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1114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98348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categorical features.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5400000">
              <a:srgbClr val="000000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5888736"/>
            <a:ext cx="384048" cy="384048"/>
          </a:xfrm>
          <a:prstGeom prst="ellipse">
            <a:avLst/>
          </a:prstGeom>
          <a:solidFill>
            <a:srgbClr val="2C6E49"/>
          </a:solidFill>
          <a:ln/>
        </p:spPr>
      </p:sp>
      <p:sp>
        <p:nvSpPr>
          <p:cNvPr id="27" name="Text 25"/>
          <p:cNvSpPr/>
          <p:nvPr/>
        </p:nvSpPr>
        <p:spPr>
          <a:xfrm>
            <a:off x="777240" y="5888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5760720"/>
            <a:ext cx="9966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final dataset for machine learning.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Data Preprocessing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 Classifier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6495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087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Used: Random Forest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50" y="2499970"/>
            <a:ext cx="230429" cy="23042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395728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prediction accuracy.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990088"/>
            <a:ext cx="384048" cy="38404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50" y="3066898"/>
            <a:ext cx="230429" cy="23042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96265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 customer patterns.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557016"/>
            <a:ext cx="384048" cy="38404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50" y="3633826"/>
            <a:ext cx="230429" cy="23042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2958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123944"/>
            <a:ext cx="384048" cy="384048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50" y="4200754"/>
            <a:ext cx="230429" cy="23042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97280" y="409651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feature importance.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548640" y="4892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48640" y="534924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/>
        </p:spPr>
      </p:sp>
      <p:sp>
        <p:nvSpPr>
          <p:cNvPr id="21" name="Shape 14"/>
          <p:cNvSpPr/>
          <p:nvPr/>
        </p:nvSpPr>
        <p:spPr>
          <a:xfrm>
            <a:off x="1275588" y="54681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8242" y="5580766"/>
            <a:ext cx="286756" cy="28675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48640" y="5989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 rot="5400000">
            <a:off x="2560320" y="5742432"/>
            <a:ext cx="201168" cy="201168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5" name="Shape 17"/>
          <p:cNvSpPr/>
          <p:nvPr/>
        </p:nvSpPr>
        <p:spPr>
          <a:xfrm>
            <a:off x="2834640" y="534924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15203D"/>
          </a:solidFill>
          <a:ln/>
        </p:spPr>
      </p:sp>
      <p:sp>
        <p:nvSpPr>
          <p:cNvPr id="26" name="Shape 18"/>
          <p:cNvSpPr/>
          <p:nvPr/>
        </p:nvSpPr>
        <p:spPr>
          <a:xfrm>
            <a:off x="3561588" y="5468112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4242" y="5580766"/>
            <a:ext cx="286756" cy="28675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2834640" y="5989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</a:t>
            </a:r>
            <a:endParaRPr lang="en-US" sz="1150" dirty="0"/>
          </a:p>
        </p:txBody>
      </p:sp>
      <p:sp>
        <p:nvSpPr>
          <p:cNvPr id="29" name="Shape 20"/>
          <p:cNvSpPr/>
          <p:nvPr/>
        </p:nvSpPr>
        <p:spPr>
          <a:xfrm rot="5400000">
            <a:off x="4846320" y="5742432"/>
            <a:ext cx="201168" cy="201168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30" name="Shape 21"/>
          <p:cNvSpPr/>
          <p:nvPr/>
        </p:nvSpPr>
        <p:spPr>
          <a:xfrm>
            <a:off x="5120640" y="5349240"/>
            <a:ext cx="1965960" cy="1051560"/>
          </a:xfrm>
          <a:prstGeom prst="roundRect">
            <a:avLst>
              <a:gd name="adj" fmla="val 8696"/>
            </a:avLst>
          </a:prstGeom>
          <a:solidFill>
            <a:srgbClr val="F4F8FA"/>
          </a:solidFill>
          <a:ln/>
        </p:spPr>
      </p:sp>
      <p:sp>
        <p:nvSpPr>
          <p:cNvPr id="31" name="Shape 22"/>
          <p:cNvSpPr/>
          <p:nvPr/>
        </p:nvSpPr>
        <p:spPr>
          <a:xfrm>
            <a:off x="5847588" y="54681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0242" y="5580766"/>
            <a:ext cx="286756" cy="28675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120640" y="59893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1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34" name="Shape 24"/>
          <p:cNvSpPr/>
          <p:nvPr/>
        </p:nvSpPr>
        <p:spPr>
          <a:xfrm>
            <a:off x="7315200" y="1508760"/>
            <a:ext cx="4297680" cy="3200400"/>
          </a:xfrm>
          <a:prstGeom prst="roundRect">
            <a:avLst>
              <a:gd name="adj" fmla="val 3429"/>
            </a:avLst>
          </a:prstGeom>
          <a:solidFill>
            <a:srgbClr val="F4F8FA"/>
          </a:solidFill>
          <a:ln/>
        </p:spPr>
      </p:sp>
      <p:sp>
        <p:nvSpPr>
          <p:cNvPr id="35" name="Text 25"/>
          <p:cNvSpPr/>
          <p:nvPr/>
        </p:nvSpPr>
        <p:spPr>
          <a:xfrm>
            <a:off x="7543800" y="16916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</a:t>
            </a:r>
            <a:endParaRPr lang="en-US" sz="1250" dirty="0"/>
          </a:p>
        </p:txBody>
      </p:sp>
      <p:sp>
        <p:nvSpPr>
          <p:cNvPr id="36" name="Shape 26"/>
          <p:cNvSpPr/>
          <p:nvPr/>
        </p:nvSpPr>
        <p:spPr>
          <a:xfrm>
            <a:off x="7635240" y="219456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10119" y="2369439"/>
            <a:ext cx="427482" cy="427482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8732520" y="20574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07399" y="2232279"/>
            <a:ext cx="427482" cy="427482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9829800" y="2240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04679" y="2415159"/>
            <a:ext cx="427482" cy="427482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8046720" y="32004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1599" y="3375279"/>
            <a:ext cx="427482" cy="427482"/>
          </a:xfrm>
          <a:prstGeom prst="rect">
            <a:avLst/>
          </a:prstGeom>
        </p:spPr>
      </p:pic>
      <p:sp>
        <p:nvSpPr>
          <p:cNvPr id="44" name="Shape 30"/>
          <p:cNvSpPr/>
          <p:nvPr/>
        </p:nvSpPr>
        <p:spPr>
          <a:xfrm>
            <a:off x="9235440" y="32461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10319" y="3420999"/>
            <a:ext cx="427482" cy="427482"/>
          </a:xfrm>
          <a:prstGeom prst="rect">
            <a:avLst/>
          </a:prstGeom>
        </p:spPr>
      </p:pic>
      <p:sp>
        <p:nvSpPr>
          <p:cNvPr id="46" name="Text 31"/>
          <p:cNvSpPr/>
          <p:nvPr/>
        </p:nvSpPr>
        <p:spPr>
          <a:xfrm>
            <a:off x="7543800" y="40233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trees vote together — the majority result becomes the final, more reliable churn prediction.</a:t>
            </a:r>
            <a:endParaRPr lang="en-US" sz="1100" dirty="0"/>
          </a:p>
        </p:txBody>
      </p:sp>
      <p:sp>
        <p:nvSpPr>
          <p:cNvPr id="47" name="Text 3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Random Forest Classifier</a:t>
            </a:r>
            <a:endParaRPr lang="en-US" sz="900" dirty="0"/>
          </a:p>
        </p:txBody>
      </p:sp>
      <p:sp>
        <p:nvSpPr>
          <p:cNvPr id="48" name="Text 3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Evaluation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3291840" cy="1965960"/>
          </a:xfrm>
          <a:prstGeom prst="roundRect">
            <a:avLst>
              <a:gd name="adj" fmla="val 558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85.63%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514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977640" y="1508760"/>
            <a:ext cx="3291840" cy="1965960"/>
          </a:xfrm>
          <a:prstGeom prst="roundRect">
            <a:avLst>
              <a:gd name="adj" fmla="val 558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3977640" y="16459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977640" y="251460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E4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406640" y="1508760"/>
            <a:ext cx="42062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35240" y="1737360"/>
            <a:ext cx="594360" cy="594360"/>
          </a:xfrm>
          <a:prstGeom prst="ellipse">
            <a:avLst/>
          </a:prstGeom>
          <a:solidFill>
            <a:srgbClr val="15203D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5999" y="1868119"/>
            <a:ext cx="332842" cy="33284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8412480" y="1691640"/>
            <a:ext cx="30632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well-generalized performance — the model reliably separates churners from loyal customers.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37490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 Tracked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548640" y="4251960"/>
            <a:ext cx="35935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94944" y="43891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158" y="4504334"/>
            <a:ext cx="281635" cy="28163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25880" y="4251960"/>
            <a:ext cx="2679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279392" y="4251960"/>
            <a:ext cx="35935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25696" y="43891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910" y="4504334"/>
            <a:ext cx="281635" cy="28163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56632" y="4251960"/>
            <a:ext cx="2679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010144" y="4251960"/>
            <a:ext cx="35935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156448" y="438912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1662" y="4504334"/>
            <a:ext cx="281635" cy="28163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787384" y="4251960"/>
            <a:ext cx="2679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548640" y="5212080"/>
            <a:ext cx="35935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94944" y="53492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158" y="5464454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25880" y="5212080"/>
            <a:ext cx="2679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4279392" y="5212080"/>
            <a:ext cx="35935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4425696" y="53492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0910" y="5464454"/>
            <a:ext cx="281635" cy="28163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056632" y="5212080"/>
            <a:ext cx="2679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35" name="Shape 27"/>
          <p:cNvSpPr/>
          <p:nvPr/>
        </p:nvSpPr>
        <p:spPr>
          <a:xfrm>
            <a:off x="8010144" y="5212080"/>
            <a:ext cx="3593592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8156448" y="5349240"/>
            <a:ext cx="512064" cy="512064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1662" y="5464454"/>
            <a:ext cx="281635" cy="281635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8787384" y="5212080"/>
            <a:ext cx="267919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300" dirty="0"/>
          </a:p>
        </p:txBody>
      </p:sp>
      <p:sp>
        <p:nvSpPr>
          <p:cNvPr id="39" name="Text 3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Performance Evaluation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Explainability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25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explains why the model made each individual prediction.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 Provides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282" y="257952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24871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churn factors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31546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" y="3265322"/>
            <a:ext cx="281635" cy="281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31729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impact values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548640" y="3840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282" y="3951122"/>
            <a:ext cx="281635" cy="28163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85876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AI decisions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5760720" y="1920240"/>
            <a:ext cx="5852160" cy="4114800"/>
          </a:xfrm>
          <a:prstGeom prst="roundRect">
            <a:avLst>
              <a:gd name="adj" fmla="val 2667"/>
            </a:avLst>
          </a:prstGeom>
          <a:solidFill>
            <a:srgbClr val="F4F8FA"/>
          </a:solidFill>
          <a:ln/>
        </p:spPr>
      </p:sp>
      <p:sp>
        <p:nvSpPr>
          <p:cNvPr id="16" name="Text 11"/>
          <p:cNvSpPr/>
          <p:nvPr/>
        </p:nvSpPr>
        <p:spPr>
          <a:xfrm>
            <a:off x="6035040" y="21031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Impact on Churn Prediction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035040" y="26974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Charges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589520" y="2752344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E2E9EC"/>
          </a:solidFill>
          <a:ln/>
        </p:spPr>
      </p:sp>
      <p:sp>
        <p:nvSpPr>
          <p:cNvPr id="19" name="Shape 14"/>
          <p:cNvSpPr/>
          <p:nvPr/>
        </p:nvSpPr>
        <p:spPr>
          <a:xfrm>
            <a:off x="7589520" y="2752344"/>
            <a:ext cx="3299155" cy="256032"/>
          </a:xfrm>
          <a:prstGeom prst="roundRect">
            <a:avLst>
              <a:gd name="adj" fmla="val 17857"/>
            </a:avLst>
          </a:prstGeom>
          <a:solidFill>
            <a:srgbClr val="B23A48"/>
          </a:solidFill>
          <a:ln/>
        </p:spPr>
      </p:sp>
      <p:sp>
        <p:nvSpPr>
          <p:cNvPr id="20" name="Text 15"/>
          <p:cNvSpPr/>
          <p:nvPr/>
        </p:nvSpPr>
        <p:spPr>
          <a:xfrm>
            <a:off x="6035040" y="3474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7589520" y="3529584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E2E9EC"/>
          </a:solidFill>
          <a:ln/>
        </p:spPr>
      </p:sp>
      <p:sp>
        <p:nvSpPr>
          <p:cNvPr id="22" name="Shape 17"/>
          <p:cNvSpPr/>
          <p:nvPr/>
        </p:nvSpPr>
        <p:spPr>
          <a:xfrm>
            <a:off x="7589520" y="3529584"/>
            <a:ext cx="2699309" cy="256032"/>
          </a:xfrm>
          <a:prstGeom prst="roundRect">
            <a:avLst>
              <a:gd name="adj" fmla="val 17857"/>
            </a:avLst>
          </a:prstGeom>
          <a:solidFill>
            <a:srgbClr val="2C6E49"/>
          </a:solidFill>
          <a:ln/>
        </p:spPr>
      </p:sp>
      <p:sp>
        <p:nvSpPr>
          <p:cNvPr id="23" name="Text 18"/>
          <p:cNvSpPr/>
          <p:nvPr/>
        </p:nvSpPr>
        <p:spPr>
          <a:xfrm>
            <a:off x="6035040" y="42519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Tickets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7589520" y="4306824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E2E9EC"/>
          </a:solidFill>
          <a:ln/>
        </p:spPr>
      </p:sp>
      <p:sp>
        <p:nvSpPr>
          <p:cNvPr id="25" name="Shape 20"/>
          <p:cNvSpPr/>
          <p:nvPr/>
        </p:nvSpPr>
        <p:spPr>
          <a:xfrm>
            <a:off x="7589520" y="4306824"/>
            <a:ext cx="2174443" cy="256032"/>
          </a:xfrm>
          <a:prstGeom prst="roundRect">
            <a:avLst>
              <a:gd name="adj" fmla="val 17857"/>
            </a:avLst>
          </a:prstGeom>
          <a:solidFill>
            <a:srgbClr val="B23A48"/>
          </a:solidFill>
          <a:ln/>
        </p:spPr>
      </p:sp>
      <p:sp>
        <p:nvSpPr>
          <p:cNvPr id="26" name="Text 21"/>
          <p:cNvSpPr/>
          <p:nvPr/>
        </p:nvSpPr>
        <p:spPr>
          <a:xfrm>
            <a:off x="6035040" y="50292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Type</a:t>
            </a:r>
            <a:endParaRPr lang="en-US" sz="1150" dirty="0"/>
          </a:p>
        </p:txBody>
      </p:sp>
      <p:sp>
        <p:nvSpPr>
          <p:cNvPr id="27" name="Shape 22"/>
          <p:cNvSpPr/>
          <p:nvPr/>
        </p:nvSpPr>
        <p:spPr>
          <a:xfrm>
            <a:off x="7589520" y="5084064"/>
            <a:ext cx="3749040" cy="256032"/>
          </a:xfrm>
          <a:prstGeom prst="roundRect">
            <a:avLst>
              <a:gd name="adj" fmla="val 17857"/>
            </a:avLst>
          </a:prstGeom>
          <a:solidFill>
            <a:srgbClr val="E2E9EC"/>
          </a:solidFill>
          <a:ln/>
        </p:spPr>
      </p:sp>
      <p:sp>
        <p:nvSpPr>
          <p:cNvPr id="28" name="Shape 23"/>
          <p:cNvSpPr/>
          <p:nvPr/>
        </p:nvSpPr>
        <p:spPr>
          <a:xfrm>
            <a:off x="7589520" y="5084064"/>
            <a:ext cx="1724558" cy="256032"/>
          </a:xfrm>
          <a:prstGeom prst="roundRect">
            <a:avLst>
              <a:gd name="adj" fmla="val 17857"/>
            </a:avLst>
          </a:prstGeom>
          <a:solidFill>
            <a:srgbClr val="2C6E49"/>
          </a:solidFill>
          <a:ln/>
        </p:spPr>
      </p:sp>
      <p:sp>
        <p:nvSpPr>
          <p:cNvPr id="29" name="Text 24"/>
          <p:cNvSpPr/>
          <p:nvPr/>
        </p:nvSpPr>
        <p:spPr>
          <a:xfrm>
            <a:off x="6035040" y="55321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illustrate relative feature impact on churn risk (higher = stronger influence).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SHAP Explainability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754" y="1919874"/>
            <a:ext cx="348204" cy="3482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868680" y="2697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490" y="2774290"/>
            <a:ext cx="230429" cy="23042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67004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868680" y="3383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90" y="3460090"/>
            <a:ext cx="230429" cy="2304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417320" y="335584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customer count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868680" y="4069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490" y="4145890"/>
            <a:ext cx="230429" cy="23042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417320" y="404164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868680" y="47548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490" y="4831690"/>
            <a:ext cx="230429" cy="23042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72744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data visualization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6217920" y="150876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15203D"/>
          </a:solidFill>
          <a:ln/>
        </p:spPr>
      </p:sp>
      <p:sp>
        <p:nvSpPr>
          <p:cNvPr id="21" name="Shape 14"/>
          <p:cNvSpPr/>
          <p:nvPr/>
        </p:nvSpPr>
        <p:spPr>
          <a:xfrm>
            <a:off x="6492240" y="1783080"/>
            <a:ext cx="621792" cy="62179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034" y="1919874"/>
            <a:ext cx="348204" cy="3482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69480" y="1783080"/>
            <a:ext cx="41148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</a:t>
            </a:r>
            <a:endParaRPr lang="en-US" sz="2100" dirty="0"/>
          </a:p>
        </p:txBody>
      </p:sp>
      <p:sp>
        <p:nvSpPr>
          <p:cNvPr id="24" name="Shape 16"/>
          <p:cNvSpPr/>
          <p:nvPr/>
        </p:nvSpPr>
        <p:spPr>
          <a:xfrm>
            <a:off x="6537960" y="26974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70" y="2774290"/>
            <a:ext cx="230429" cy="230429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86600" y="267004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information input</a:t>
            </a:r>
            <a:endParaRPr lang="en-US" sz="1400" dirty="0"/>
          </a:p>
        </p:txBody>
      </p:sp>
      <p:sp>
        <p:nvSpPr>
          <p:cNvPr id="27" name="Shape 18"/>
          <p:cNvSpPr/>
          <p:nvPr/>
        </p:nvSpPr>
        <p:spPr>
          <a:xfrm>
            <a:off x="6537960" y="33832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770" y="3460090"/>
            <a:ext cx="230429" cy="230429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7086600" y="335584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</a:t>
            </a:r>
            <a:endParaRPr lang="en-US" sz="1400" dirty="0"/>
          </a:p>
        </p:txBody>
      </p:sp>
      <p:sp>
        <p:nvSpPr>
          <p:cNvPr id="30" name="Shape 20"/>
          <p:cNvSpPr/>
          <p:nvPr/>
        </p:nvSpPr>
        <p:spPr>
          <a:xfrm>
            <a:off x="6537960" y="40690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4770" y="4145890"/>
            <a:ext cx="230429" cy="230429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086600" y="404164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score</a:t>
            </a:r>
            <a:endParaRPr lang="en-US" sz="1400" dirty="0"/>
          </a:p>
        </p:txBody>
      </p:sp>
      <p:sp>
        <p:nvSpPr>
          <p:cNvPr id="33" name="Shape 22"/>
          <p:cNvSpPr/>
          <p:nvPr/>
        </p:nvSpPr>
        <p:spPr>
          <a:xfrm>
            <a:off x="6537960" y="475488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4770" y="4831690"/>
            <a:ext cx="230429" cy="230429"/>
          </a:xfrm>
          <a:prstGeom prst="rect">
            <a:avLst/>
          </a:prstGeom>
        </p:spPr>
      </p:pic>
      <p:sp>
        <p:nvSpPr>
          <p:cNvPr id="35" name="Text 23"/>
          <p:cNvSpPr/>
          <p:nvPr/>
        </p:nvSpPr>
        <p:spPr>
          <a:xfrm>
            <a:off x="7086600" y="4727448"/>
            <a:ext cx="4343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400" dirty="0"/>
          </a:p>
        </p:txBody>
      </p:sp>
      <p:sp>
        <p:nvSpPr>
          <p:cNvPr id="36" name="Text 2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Application Features</a:t>
            </a:r>
            <a:endParaRPr lang="en-US" sz="900" dirty="0"/>
          </a:p>
        </p:txBody>
      </p:sp>
      <p:sp>
        <p:nvSpPr>
          <p:cNvPr id="37" name="Text 25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Prediction Example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1965960" y="1600200"/>
            <a:ext cx="8229600" cy="4480560"/>
          </a:xfrm>
          <a:prstGeom prst="roundRect">
            <a:avLst>
              <a:gd name="adj" fmla="val 2857"/>
            </a:avLst>
          </a:prstGeom>
          <a:solidFill>
            <a:srgbClr val="F4F8FA"/>
          </a:solidFill>
          <a:ln w="12700">
            <a:solidFill>
              <a:srgbClr val="D9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7760" y="1920240"/>
            <a:ext cx="914400" cy="91440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3500" y="21259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23160" y="29718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C6E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is likely to STAY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2423160" y="36576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423160" y="3730752"/>
            <a:ext cx="3520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8E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10.83%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423160" y="42976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Probability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26480" y="3657600"/>
            <a:ext cx="35204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720840" y="3822192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2C6E49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3822192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126480" y="42976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423160" y="5074920"/>
            <a:ext cx="7223760" cy="822960"/>
          </a:xfrm>
          <a:prstGeom prst="roundRect">
            <a:avLst>
              <a:gd name="adj" fmla="val 11111"/>
            </a:avLst>
          </a:prstGeom>
          <a:solidFill>
            <a:srgbClr val="E7F1EA"/>
          </a:solidFill>
          <a:ln/>
        </p:spPr>
      </p:sp>
      <p:sp>
        <p:nvSpPr>
          <p:cNvPr id="16" name="Shape 13"/>
          <p:cNvSpPr/>
          <p:nvPr/>
        </p:nvSpPr>
        <p:spPr>
          <a:xfrm>
            <a:off x="2606040" y="5193792"/>
            <a:ext cx="457200" cy="457200"/>
          </a:xfrm>
          <a:prstGeom prst="ellipse">
            <a:avLst/>
          </a:prstGeom>
          <a:solidFill>
            <a:srgbClr val="2C6E49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910" y="5296662"/>
            <a:ext cx="251460" cy="2514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200400" y="5074920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Customer is stable — maintain current services.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Prediction Example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359359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182880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4268" y="19933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churn detection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279392" y="1508760"/>
            <a:ext cx="359359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0428" y="182880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020" y="19933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274320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improve customer retention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010144" y="1508760"/>
            <a:ext cx="359359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441180" y="1828800"/>
            <a:ext cx="731520" cy="731520"/>
          </a:xfrm>
          <a:prstGeom prst="ellipse">
            <a:avLst/>
          </a:prstGeom>
          <a:solidFill>
            <a:srgbClr val="1520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772" y="199339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38744" y="274320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AI-based predictions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548640" y="4069080"/>
            <a:ext cx="359359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979676" y="438912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4268" y="4553712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77240" y="530352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decision-making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4279392" y="4069080"/>
            <a:ext cx="3593592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5710428" y="4389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5020" y="4553712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07992" y="5303520"/>
            <a:ext cx="313639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user-friendly dashboard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Advantages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691640"/>
            <a:ext cx="0" cy="4434840"/>
          </a:xfrm>
          <a:prstGeom prst="line">
            <a:avLst/>
          </a:prstGeom>
          <a:noFill/>
          <a:ln w="38100">
            <a:solidFill>
              <a:srgbClr val="D9E3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" y="1847088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737360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F4F8FA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1837944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5414" y="1953158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86000" y="1737360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customer monitoring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40664" y="2734056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17320" y="2624328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F4F8FA"/>
          </a:solidFill>
          <a:ln/>
        </p:spPr>
      </p:sp>
      <p:sp>
        <p:nvSpPr>
          <p:cNvPr id="12" name="Shape 9"/>
          <p:cNvSpPr/>
          <p:nvPr/>
        </p:nvSpPr>
        <p:spPr>
          <a:xfrm>
            <a:off x="1600200" y="2724912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414" y="2840126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286000" y="2624328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Learning-based prediction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740664" y="3621024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417320" y="3511296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F4F8FA"/>
          </a:solidFill>
          <a:ln/>
        </p:spPr>
      </p:sp>
      <p:sp>
        <p:nvSpPr>
          <p:cNvPr id="17" name="Shape 13"/>
          <p:cNvSpPr/>
          <p:nvPr/>
        </p:nvSpPr>
        <p:spPr>
          <a:xfrm>
            <a:off x="1600200" y="3611880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414" y="3727094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86000" y="3511296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system integration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40664" y="4507992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417320" y="4398264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F4F8FA"/>
          </a:solidFill>
          <a:ln/>
        </p:spPr>
      </p:sp>
      <p:sp>
        <p:nvSpPr>
          <p:cNvPr id="22" name="Shape 17"/>
          <p:cNvSpPr/>
          <p:nvPr/>
        </p:nvSpPr>
        <p:spPr>
          <a:xfrm>
            <a:off x="1600200" y="4498848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414" y="461406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286000" y="4398264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customer communication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740664" y="5394960"/>
            <a:ext cx="347472" cy="347472"/>
          </a:xfrm>
          <a:prstGeom prst="ellipse">
            <a:avLst/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417320" y="5285232"/>
            <a:ext cx="9966960" cy="713232"/>
          </a:xfrm>
          <a:prstGeom prst="roundRect">
            <a:avLst>
              <a:gd name="adj" fmla="val 11538"/>
            </a:avLst>
          </a:prstGeom>
          <a:solidFill>
            <a:srgbClr val="F4F8FA"/>
          </a:solidFill>
          <a:ln/>
        </p:spPr>
      </p:sp>
      <p:sp>
        <p:nvSpPr>
          <p:cNvPr id="27" name="Shape 21"/>
          <p:cNvSpPr/>
          <p:nvPr/>
        </p:nvSpPr>
        <p:spPr>
          <a:xfrm>
            <a:off x="1600200" y="5385816"/>
            <a:ext cx="512064" cy="512064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5414" y="550103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286000" y="5285232"/>
            <a:ext cx="88696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recommendation system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Future Scope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5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389120"/>
            <a:ext cx="4206240" cy="42062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914400" cy="73152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600200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" y="1687982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58191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an AI-powered customer churn prediction system.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548640" y="23957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422" y="2483510"/>
            <a:ext cx="263347" cy="2633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3774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effectively predicts customer behavior.</a:t>
            </a:r>
            <a:endParaRPr lang="en-US" sz="1550" dirty="0"/>
          </a:p>
        </p:txBody>
      </p:sp>
      <p:sp>
        <p:nvSpPr>
          <p:cNvPr id="12" name="Shape 8"/>
          <p:cNvSpPr/>
          <p:nvPr/>
        </p:nvSpPr>
        <p:spPr>
          <a:xfrm>
            <a:off x="548640" y="3191256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" y="3279038"/>
            <a:ext cx="263347" cy="2633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729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improves model transparency.</a:t>
            </a:r>
            <a:endParaRPr lang="en-US" sz="1550" dirty="0"/>
          </a:p>
        </p:txBody>
      </p:sp>
      <p:sp>
        <p:nvSpPr>
          <p:cNvPr id="15" name="Shape 10"/>
          <p:cNvSpPr/>
          <p:nvPr/>
        </p:nvSpPr>
        <p:spPr>
          <a:xfrm>
            <a:off x="548640" y="3986784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" y="4074566"/>
            <a:ext cx="263347" cy="26334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96849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provides an interactive deployment platform.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548640" y="478231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" y="4870094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76402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helps businesses reduce customer loss.</a:t>
            </a:r>
            <a:endParaRPr lang="en-US" sz="1550" dirty="0"/>
          </a:p>
        </p:txBody>
      </p:sp>
      <p:sp>
        <p:nvSpPr>
          <p:cNvPr id="21" name="Text 14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Churn Prediction — Conclusion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520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57200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779008" y="210312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5322" y="232943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918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4160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2026-08-01T01:48:21Z</dcterms:created>
  <dcterms:modified xsi:type="dcterms:W3CDTF">2026-08-01T01:48:21Z</dcterms:modified>
</cp:coreProperties>
</file>